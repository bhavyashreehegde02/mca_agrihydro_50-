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A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JALACHAKRA  |  CAPSTONE PROJECT – PRESENTATION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A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640080"/>
            <a:ext cx="4389120" cy="4389120"/>
          </a:xfrm>
          <a:prstGeom prst="arc">
            <a:avLst/>
          </a:prstGeom>
          <a:noFill/>
          <a:ln w="25400">
            <a:solidFill>
              <a:srgbClr val="28C7D9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144000" y="91440"/>
            <a:ext cx="3108960" cy="3108960"/>
          </a:xfrm>
          <a:prstGeom prst="arc">
            <a:avLst/>
          </a:prstGeom>
          <a:noFill/>
          <a:ln w="25400">
            <a:solidFill>
              <a:srgbClr val="67C58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8F8"/>
                </a:solidFill>
              </a:rPr>
              <a:t>JALACHAKRA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CD9E6"/>
                </a:solidFill>
              </a:rPr>
              <a:t>Intelligent Crop Water Requirement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5CD9E6"/>
                </a:solidFill>
              </a:rPr>
              <a:t>Prediction and Farmer Advisory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8096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E8"/>
                </a:solidFill>
              </a:rPr>
              <a:t>Phase-1 Second 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3703320"/>
            <a:ext cx="1508760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MCA CAPSTONE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04872" y="3703320"/>
            <a:ext cx="1097280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AI / 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39312" y="3703320"/>
            <a:ext cx="1737360" cy="274320"/>
          </a:xfrm>
          <a:prstGeom prst="rect">
            <a:avLst/>
          </a:prstGeom>
          <a:solidFill>
            <a:srgbClr val="F2C45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CLOUD + DEVOPS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4297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E8"/>
                </a:solidFill>
              </a:rPr>
              <a:t>Student: Bhavyashree Hegde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8"/>
                </a:solidFill>
              </a:rPr>
              <a:t>Guide: ____________________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8"/>
                </a:solidFill>
              </a:rPr>
              <a:t>PES University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5029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A9DD6F"/>
                </a:solidFill>
              </a:rPr>
              <a:t>“From farm location to water-aware irrigation decisions.”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A location-aware decision-support platform centered on crop water demand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01 ABSTRACT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6858000" cy="3337560"/>
          </a:xfrm>
          <a:prstGeom prst="roundRect">
            <a:avLst>
              <a:gd name="adj" fmla="val 219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0200"/>
            <a:ext cx="54864" cy="333756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190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Problem + Proposed Direction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65471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Agriculture requires timely irrigation decisions, but farmers often face fragmented weather, crop, soil and water information. Jalachakra combines a physical crop-water-demand baseline with machine learning and farmer-oriented decision support.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The proposed workflow begins with farm location and crop context, then uses growth-stage information, weather/rainfall and soil/context data where supported. A FAO-56-based reference calculation provides a scientific baseline, while ML is used as a predictive layer. The final output translates water demand into an irrigation-oriented advisory.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635240" y="16002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1600200"/>
            <a:ext cx="54864" cy="1005840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Core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99832" y="2029968"/>
            <a:ext cx="3621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Reference-derived CWR → irrigation requirement → simple farmer advisory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2770632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770632"/>
            <a:ext cx="54864" cy="100584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Research Focus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9832" y="3200400"/>
            <a:ext cx="3621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Physics-guided + growth-stage-aware machine learning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3941064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941064"/>
            <a:ext cx="54864" cy="1005840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4059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Practical Focus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9832" y="4370832"/>
            <a:ext cx="3621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Location-first farmer flow with transparent calculation details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Source basis: project plan + Phase-0/Phase-1 data audit and implementation status.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— Problem Scenario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Why water requirement must be converted into an understandable farm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02 INTRODUCTION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72768"/>
            <a:ext cx="54864" cy="1298448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916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Weather uncertainty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200253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Temperature, humidity and rainfall vary over time; raw weather values are not directly actionable.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5727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72768"/>
            <a:ext cx="54864" cy="1298448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916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Crop-stage dependency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00253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A crop’s water demand changes as it moves through development stages.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1729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172968"/>
            <a:ext cx="54864" cy="1298448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2918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CWR ≠ irrigation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360273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Crop water demand must be translated into irrigation need using rainfall and documented efficiency assumptions.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1729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172968"/>
            <a:ext cx="54864" cy="1298448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2918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Fragmented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360273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Location, crop, soil and weather information are often stored in separate datasets.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05072" y="512064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5193792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8"/>
                </a:solidFill>
              </a:rPr>
              <a:t>Farmer needs one clear answer: “How much water does my crop need, and what should I do?”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Jalachakra combines agricultural context, physics, ML and decision logic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03 PROPOSED SOLUTION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947672"/>
            <a:ext cx="1865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Location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Farm 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(GPS / Lat-Long / District)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2468880"/>
            <a:ext cx="30175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7452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47672"/>
            <a:ext cx="1865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Crop context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Category + crop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growth stage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30175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87452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947672"/>
            <a:ext cx="1865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Water science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FAO-56 → ET₀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Kc → reference CWR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2468880"/>
            <a:ext cx="30175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87452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947672"/>
            <a:ext cx="1865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ML layer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Random Forest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XGBoost baselines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09760" y="2468880"/>
            <a:ext cx="30175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29800" y="187452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62C31"/>
          </a:solidFill>
          <a:ln w="15240">
            <a:solidFill>
              <a:srgbClr val="5C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2952" y="1947672"/>
            <a:ext cx="1865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Decision layer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Rainfall → irrigation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water volume → advisory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10149840" cy="1234440"/>
          </a:xfrm>
          <a:prstGeom prst="roundRect">
            <a:avLst>
              <a:gd name="adj" fmla="val 5926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794760"/>
            <a:ext cx="54864" cy="1234440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9136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Farmer-first principle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78992" y="4224528"/>
            <a:ext cx="9838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Technical calculations remain available under “View details”, while the main screen communicates simple outputs: water demand, rainfall contribution, irrigation need, estimated litres and the reason for the advisory.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The UI is intentionally planned as a guided flow rather than a technical ML form.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 and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What Jalachakra will solve — and what it will deliberately not claim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04 PURPOSE &amp; SCOPE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" cy="356616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Purpose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499262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Estimate crop water demand using a scientific reference baseline and machine learning.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Incorporate crop development stage into the modelling workflow.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Use rainfall and documented irrigation assumptions to support irrigation decisions.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Present uncertainty and calculations in an understandable way.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Start from farm location so regional agricultural context can be incorporated.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54480"/>
            <a:ext cx="54864" cy="356616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733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Scope Boundaries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8232" y="1984248"/>
            <a:ext cx="499262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IN SCOPE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Seasonal and selected crop workflows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Location-aware crop evidence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FAO-56 / Kc reference calculations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Random Forest + XGBoost baseline experiments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Proposed physics-guided model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Rainfall-aware irrigation support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Farmer advisory + history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NOT A CURRENT CLAIM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Sensor-measured field CWR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Guaranteed “best crop” recommendation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Full perennial CWR without validated data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• Real-time weather unless provider is configured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Scope is constrained deliberately to keep the research measurable and the farmer workflow practical.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Study — Existing Research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Existing work spans ET₀ prediction, irrigation control, CWR estimation and sensor-driven systems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" cy="1572768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ET₀ / evapotranspiration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ML and deep-learning methods estimate or forecast reference ET₀ from meteorological data.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[1] [2] [3]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55448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554480"/>
            <a:ext cx="54864" cy="1572768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67335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Irrigation water requirement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1144" y="198424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Deep temporal models and ensemble models directly target irrigation water quantities.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[4] [5]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38744" y="155448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554480"/>
            <a:ext cx="54864" cy="1572768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67335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CWR + remote sensing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03336" y="198424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Multimodal remote-sensing pipelines estimate crop water requirements and irrigation schedules.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[6]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42900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29000"/>
            <a:ext cx="54864" cy="1572768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54787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IoT irrigation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385876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Sensor-based approaches monitor soil moisture / ET and automate or optimize irrigation.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[7] [8] [9]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16552" y="342900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429000"/>
            <a:ext cx="54864" cy="1572768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54787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Indian agriculture context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81144" y="3858768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Indian conference work has explored ML for crop-water-related prediction.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[10]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Literature focus is chosen to match the Jalachakra chain: physical evapotranspiration → crop water requirement → irrigation decision support.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Literature Survey 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Two-paper detailed survey: method, data context and relevance to Jalachakra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Machine Learning Based Prediction of Reference Evapotranspiration (ET₀) Using IoT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Zhiming Hu, Rab Nawaz Bashir, Aqeel ur Rehman, Salman Iqbal, Malik Muhammad Ali Shahid, Ting Xu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8952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Access, vol. 10, pp. 70526–70540, 2022. DOI: 10.1109/ACCESS.2022.3187528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C7D9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Uses temperature and humidity sensed in crop fields through an IoT architecture. Compares GNB, SVM, KNN and ANN against the FAO Penman–Monteith reference method; data cover 2015–2021 in Pakistan.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Supports the importance of ET₀ prediction for irrigation. Unlike Jalachakra, it is ET₀-focused and IoT/sensor-oriented rather than a growth-stage-aware CWR + advisory pipeline.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0" y="5641848"/>
            <a:ext cx="960120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ET₀ + IoT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[2]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Hybrid Neural Network Based Models for Evapotranspiration Prediction Over Limited Weather Parameters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Pedro J. Vaz, Gabriela Schütz, Carlos Guerrero, Pedro J. S. Cardoso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19088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Access, vol. 11, pp. 963–976, 2023. DOI: 10.1109/ACCESS.2022.3233301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Evaluates ANN/LSTM/GRU and hybrid approaches under limited weather parameters. A hybrid route estimates solar radiation and then uses FAO-56 Penman–Monteith; tested at Vale do Lobo, Portugal and 11 Colorado stations.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419088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Shows how physical knowledge and ML can be combined. Jalachakra extends the idea toward crop-specific water demand, growth stage and farmer-facing irrigation support.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232136" y="5641848"/>
            <a:ext cx="960120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Physics + ML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Literature Survey II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Two-paper detailed survey: method, data context and relevance to Jalachakra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Deep Multi-Stage Reference Evapotranspiration Forecasting Model: MEMD Integrated With Boruta-Random Forest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W. J. M. Lakmini Prarthana Jayasinghe, Ravinesh C. Deo, Afshin Ghahramani, Sujan Ghimire, Nawin Raj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8952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Access, vol. 9, pp. 166695–166708, 2021. DOI: 10.1109/ACCESS.2021.3135362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45C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Combines MEMD, Boruta feature selection and LSTM to forecast daily reference ET using NASA GIOVANNI and SILO data from Queensland, Australia (2003–2011).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Demonstrates the value of temporal modelling. Jalachakra focuses on a more lightweight tabular approach with explicit agricultural growth-stage representation.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0" y="5641848"/>
            <a:ext cx="960120" cy="274320"/>
          </a:xfrm>
          <a:prstGeom prst="rect">
            <a:avLst/>
          </a:prstGeom>
          <a:solidFill>
            <a:srgbClr val="F2C45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Temporal 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[4]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Prediction of Irrigation Water Requirement Based on Parallel CNN-LSTM Model and Mann-Kendall Test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Hao Wen, Haochen Ma, Yu Du, Jinchao Zhang, Li He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19088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2024 IEEE 7th International Conference on Industrial Cyber-Physical Systems, pp. 1–6. DOI: 10.1109/ICPS59941.2024.10640026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DD6F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Uses the Mann–Kendall test to segment non-stationary meteorological series and a parallel CNN-LSTM to learn spatial/temporal information for irrigation water requirement prediction using 2020–2023 Beijing data.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419088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Directly addresses irrigation water requirement. Its deep spatiotemporal architecture differs from the proposed physics-guided growth-stage-aware XGBoost route.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232136" y="5641848"/>
            <a:ext cx="960120" cy="274320"/>
          </a:xfrm>
          <a:prstGeom prst="rect">
            <a:avLst/>
          </a:prstGeom>
          <a:solidFill>
            <a:srgbClr val="A9DD6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Irrigation WR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Literature Survey III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Two-paper detailed survey: method, data context and relevance to Jalachakra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[5]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A Machine Learning-Based Approach for Smart Agriculture via Stacking-Based Ensemble Learning and Feature Selection Methods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Emna Ben Abdallah, Rima Grati, Khouloud Boukadi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8952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2022 18th International Conference on Intelligent Environments, pp. 1–8. DOI: 10.1109/IE54923.2022.9826767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D9E6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Uses RF, RFE and SelectKBest for feature analysis, then stacks CART, Gradient Boost Regression, RF and XGBoost to estimate plant water quantity from meteorological, soil, irrigation and crop variables. Reported R² is 0.9927 on the study dataset.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Strong justification for tree-based ML and feature selection. Jalachakra differs by emphasizing a physical baseline, growth stage and leakage-safe research design.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0" y="5641848"/>
            <a:ext cx="960120" cy="274320"/>
          </a:xfrm>
          <a:prstGeom prst="rect">
            <a:avLst/>
          </a:prstGeom>
          <a:solidFill>
            <a:srgbClr val="5CD9E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RF + XGB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[6]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PAMICRM: Improving Precision Agriculture Through Multimodal Image Analysis for Crop Water Requirement Estimation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Ravi Kumar Munaganuri, Yamarthi Narasimha Rao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19088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Access, vol. 12, pp. 52815–52836, 2024. DOI: 10.1109/ACCESS.2024.3386552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45C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Uses remote-sensing image processing, Vision Transformer, multidomain feature extraction, optimization and temporal modelling to estimate CWR and support irrigation scheduling.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419088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Direct CWR research with remote sensing. Jalachakra intentionally avoids dependence on remote sensing for the core MVP and emphasizes a practical data-entry + weather/rainfall workflow.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232136" y="5641848"/>
            <a:ext cx="960120" cy="274320"/>
          </a:xfrm>
          <a:prstGeom prst="rect">
            <a:avLst/>
          </a:prstGeom>
          <a:solidFill>
            <a:srgbClr val="F2C45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CWR + 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Literature Survey IV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Two-paper detailed survey: method, data context and relevance to Jalachakra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[7]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A Fuzzy-Logic-Based Smart Irrigation Controller for Precision Agriculture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Moomal Bukhari, Syed Owais Athar, Mukhtar Ullah, Muhammad Naveed Aman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8952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Internet of Things Journal, vol. 11, no. 22, pp. 37257–37268, 2024. DOI: 10.1109/JIOT.2024.3440200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Proposes a fuzzy-inference irrigation controller using reference soil-moisture deviation and crop coefficient, validated in simulation and on IoT hardware.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Highlights the distinction between crop coefficient information and irrigation control. Jalachakra uses predictive demand + rainfall/efficiency decision support instead of a sensor-driven controller.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0" y="5641848"/>
            <a:ext cx="960120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Irrigation Control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[8]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Internet of Things and Artificial Intelligence for Sustainable Agriculture: A Use Case in Citrus Orchards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Antonino Pagano, Federico Amato, Matteo Ippolito, Dario De Caro, Diego Croce, A. Motisi, G. Provenzano, I. Tinnirello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19088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2023 IEEE 9th World Forum on Internet of Things (WF-IoT). DOI: 10.1109/WF-IoT58464.2023.10539593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DD6F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Presents an IoT + AI use case in a citrus orchard, predicting daily actual evapotranspiration with different feature combinations and studying reduction of sensor-feature requirements.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419088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Very relevant to water management in perennial crops. It also reinforces Jalachakra’s deliberate distinction between sensor-based systems and the proposed sensor-independent core.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232136" y="5641848"/>
            <a:ext cx="960120" cy="274320"/>
          </a:xfrm>
          <a:prstGeom prst="rect">
            <a:avLst/>
          </a:prstGeom>
          <a:solidFill>
            <a:srgbClr val="A9DD6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Perennial + IoT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Literature Survey 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Two-paper detailed survey: method, data context and relevance to Jalachakra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05 LITERATURE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[9]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IoT-Enabled Adaptive Watering System With ARIMA-Based Soil Moisture Prediction for Smart Agriculture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Muhammad Afzal, Iftikhar Ahmed Saeed, Muhammad Noman Sohail, Mohamad Hanif Md. Saad, Mahidur R. Sarker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8952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IEEE Access, vol. 13, pp. 27714–27728, 2025. DOI: 10.1109/ACCESS.2025.3532447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45C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Uses Wi-Fi/GSM IoT systems to monitor soil and environmental conditions and applies ARIMA to predict soil moisture for up to ten days.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Shows the practical value of forecasting water-related state variables. Jalachakra instead targets crop water demand and translates it into irrigation decisions.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0" y="5641848"/>
            <a:ext cx="960120" cy="274320"/>
          </a:xfrm>
          <a:prstGeom prst="rect">
            <a:avLst/>
          </a:prstGeom>
          <a:solidFill>
            <a:srgbClr val="F2C45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Soil Moisture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642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7D9"/>
                </a:solidFill>
              </a:rPr>
              <a:t>[10]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16276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8"/>
                </a:solidFill>
              </a:rPr>
              <a:t>Water Level Prediction Using Random Forest Algorithm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4323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1AEB3"/>
                </a:solidFill>
              </a:rPr>
              <a:t>Sudhakar Kattupalli, Sai Manvitha Reddy Mallireddy, Praveena Tallapureddy, Sowjanya Vuddanti, B. Katragadda, S. R. Manda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19088" y="27980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6E8"/>
                </a:solidFill>
              </a:rPr>
              <a:t>2023 7th International Conference on Electronics, Communication and Aerospace Technology (ICECA). DOI: 10.1109/ICECA58529.2023.10394849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D9E6"/>
                </a:solidFill>
              </a:rPr>
              <a:t>Study / 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3529584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7E6E8"/>
                </a:solidFill>
              </a:rPr>
              <a:t>Compares decision-tree and Random Forest approaches for crop-water-related prediction using crop type, soil type, region, temperature and weather conditions.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419088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C58A"/>
                </a:solidFill>
              </a:rPr>
              <a:t>Relevance / Limitation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4965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E6E8"/>
                </a:solidFill>
              </a:rPr>
              <a:t>Provides an Indian ML context and supports the use of Random Forest as a baseline. Jalachakra adds a physical FAO-56 layer, growth-stage handling and uncertainty/decision support.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232136" y="5641848"/>
            <a:ext cx="960120" cy="274320"/>
          </a:xfrm>
          <a:prstGeom prst="rect">
            <a:avLst/>
          </a:prstGeom>
          <a:solidFill>
            <a:srgbClr val="5CD9E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Indian ML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Comparative Study — Existing Research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Feature-level comparison requested in the capstone guideline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06 COMPARATIVE STUDY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2130552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Study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88920" y="1536192"/>
            <a:ext cx="1325880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Target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24528" y="1536192"/>
            <a:ext cx="1536192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Physical basis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6440" y="1536192"/>
            <a:ext cx="1627632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16952" y="1536192"/>
            <a:ext cx="1664208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IoT/RS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0" y="1536192"/>
            <a:ext cx="2286000" cy="45720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1A"/>
                </a:solidFill>
              </a:rPr>
              <a:t>Growth stage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213055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Hu et al. [1]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788920" y="2011680"/>
            <a:ext cx="132588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ET₀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224528" y="2011680"/>
            <a:ext cx="153619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FAO-PM reference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806440" y="2011680"/>
            <a:ext cx="162763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KNN/SVM/GNB/ANN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616952" y="2011680"/>
            <a:ext cx="1664208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IoT ✓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326880" y="2011680"/>
            <a:ext cx="228600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2761488"/>
            <a:ext cx="213055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Vaz et al. [2]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788920" y="2761488"/>
            <a:ext cx="1325880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ET₀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224528" y="2761488"/>
            <a:ext cx="153619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FAO-56-PM + hybrid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806440" y="2761488"/>
            <a:ext cx="162763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ANN/LSTM/GRU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616952" y="2761488"/>
            <a:ext cx="1664208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326880" y="2761488"/>
            <a:ext cx="2286000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66928" y="3511296"/>
            <a:ext cx="213055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Jayasinghe et al. [3]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2788920" y="3511296"/>
            <a:ext cx="132588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ET forecast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224528" y="3511296"/>
            <a:ext cx="153619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Reference ET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806440" y="3511296"/>
            <a:ext cx="162763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MEMD + LSTM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7616952" y="3511296"/>
            <a:ext cx="1664208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Remote data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326880" y="3511296"/>
            <a:ext cx="228600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4261104"/>
            <a:ext cx="213055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Wen et al. [4]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2788920" y="4261104"/>
            <a:ext cx="1325880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Irrigation WR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224528" y="4261104"/>
            <a:ext cx="153619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Meteorological modelling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806440" y="4261104"/>
            <a:ext cx="1627632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CNN-LSTM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616952" y="4261104"/>
            <a:ext cx="1664208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326880" y="4261104"/>
            <a:ext cx="2286000" cy="658368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Time series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66928" y="5010912"/>
            <a:ext cx="213055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Ben Abdallah et al. [5]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2788920" y="5010912"/>
            <a:ext cx="132588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Plant water quantity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224528" y="5010912"/>
            <a:ext cx="153619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ET/depletion features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806440" y="5010912"/>
            <a:ext cx="1627632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RF + XGB stacking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7616952" y="5010912"/>
            <a:ext cx="1664208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—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9326880" y="5010912"/>
            <a:ext cx="2286000" cy="658368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7E6E8"/>
                </a:solidFill>
              </a:rPr>
              <a:t>Crop variables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“—” means the feature is not central in the paper’s described method.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Comparative Study — Existing Research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The proposed Jalachakra scope combines several research directions into one 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06 COMPARATIVE STUDY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5488" y="1536192"/>
            <a:ext cx="2148840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Study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743200" y="1536192"/>
            <a:ext cx="1508760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Target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297680" y="1536192"/>
            <a:ext cx="1901952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CWR / irrigation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236208" y="1536192"/>
            <a:ext cx="1188720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Uncertainty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543800" y="1536192"/>
            <a:ext cx="1600200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Farmer-facing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308592" y="1536192"/>
            <a:ext cx="2286000" cy="45720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71A"/>
                </a:solidFill>
              </a:rPr>
              <a:t>Location-first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75488" y="2011680"/>
            <a:ext cx="214884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PAMICRM [6]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50876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CWR / schedule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2011680"/>
            <a:ext cx="1901952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6208" y="2011680"/>
            <a:ext cx="118872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—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43800" y="2011680"/>
            <a:ext cx="16002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Research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08592" y="2011680"/>
            <a:ext cx="22860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—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679192"/>
            <a:ext cx="214884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Bukhari et al. [7]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2679192"/>
            <a:ext cx="150876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Irrigation control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2679192"/>
            <a:ext cx="1901952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36208" y="2679192"/>
            <a:ext cx="118872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Controller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2679192"/>
            <a:ext cx="160020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Control 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08592" y="2679192"/>
            <a:ext cx="228600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Sensor-based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346704"/>
            <a:ext cx="214884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Pagano et al. [8]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0" y="3346704"/>
            <a:ext cx="150876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Actual ETa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0" y="3346704"/>
            <a:ext cx="1901952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3346704"/>
            <a:ext cx="118872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43800" y="3346704"/>
            <a:ext cx="16002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Orchard use case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08592" y="3346704"/>
            <a:ext cx="22860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Orchard-specific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4014216"/>
            <a:ext cx="214884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Afzal et al. [9]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0" y="4014216"/>
            <a:ext cx="150876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Soil moisture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97680" y="4014216"/>
            <a:ext cx="1901952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Watering support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4014216"/>
            <a:ext cx="118872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Forecast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43800" y="4014216"/>
            <a:ext cx="160020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Farmer use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08592" y="4014216"/>
            <a:ext cx="2286000" cy="576072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Sensor-based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4681728"/>
            <a:ext cx="214884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Sudhakar et al. [10]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0" y="4681728"/>
            <a:ext cx="150876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Water-related prediction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97680" y="4681728"/>
            <a:ext cx="1901952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36208" y="4681728"/>
            <a:ext cx="118872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43800" y="4681728"/>
            <a:ext cx="16002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General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08592" y="4681728"/>
            <a:ext cx="2286000" cy="576072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7E6E8"/>
                </a:solidFill>
              </a:rPr>
              <a:t>Region feature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5349240"/>
            <a:ext cx="2148840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JALACHAKRA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0" y="5349240"/>
            <a:ext cx="1508760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Reference CWR + 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5349240"/>
            <a:ext cx="1901952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✓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6208" y="5349240"/>
            <a:ext cx="1188720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Planned/validated method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43800" y="5349240"/>
            <a:ext cx="1600200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✓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308592" y="5349240"/>
            <a:ext cx="2286000" cy="576072"/>
          </a:xfrm>
          <a:prstGeom prst="rect">
            <a:avLst/>
          </a:prstGeom>
          <a:solidFill>
            <a:srgbClr val="173B32"/>
          </a:solidFill>
          <a:ln w="12700">
            <a:solidFill>
              <a:srgbClr val="67C5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8"/>
                </a:solidFill>
              </a:rPr>
              <a:t>✓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The table is a descriptive comparison, not a ranking of papers.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and Proposed Contribution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The gap is in integration and formulation — not in claiming a new algorithm name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07 RESEARCH GAP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" cy="182880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Observed gap from the survey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51755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Literature already contains strong work on ET₀ prediction, deep temporal forecasting, CWR estimation, IoT irrigation and tree-based ML. The opportunity for Jalachakra is to combine these ideas into a transparent agricultural workflow that explicitly separates physical water demand from irrigation decisions.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36118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611880"/>
            <a:ext cx="54864" cy="178308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7307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Research contribution to test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4041648"/>
            <a:ext cx="5175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A growth-stage-aware, leakage-safe ML formulation informed by a FAO-56 physical baseline, with uncertainty and rainfall-aware irrigation decision support.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92240" y="152704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0020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FAO-56  |  Physical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42832" y="2148840"/>
            <a:ext cx="0" cy="22860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239572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46888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Growth stage  |  Crop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42832" y="3017520"/>
            <a:ext cx="0" cy="22860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326440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33756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Weather + rainfall  |  Environmental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3886200"/>
            <a:ext cx="0" cy="22860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413308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420624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ML  |  RF + XGBoost → proposed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42832" y="4754880"/>
            <a:ext cx="0" cy="22860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500176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162C31"/>
          </a:solidFill>
          <a:ln w="15240">
            <a:solidFill>
              <a:srgbClr val="5C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507492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Decision support  |  Uncertainty → irrigation → advisory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Novelty claim is intentionally framed as an integrated methodology and decision-support pipeline.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&amp; Technologies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Technology choices support reproducible ML research and a cloud-ready application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08 TECHNOLOGY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81328"/>
            <a:ext cx="54864" cy="105156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0020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9110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Data cleaning, preprocessing, scientific calculations, ML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81328"/>
            <a:ext cx="54864" cy="1051560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0020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3712" y="19110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Data wrangling, validation and feature preparation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481328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81328"/>
            <a:ext cx="54864" cy="105156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0020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19110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Preprocessing, Random Forest and evaluation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43200"/>
            <a:ext cx="54864" cy="1051560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8620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XGBoost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31729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Gradient-boosted regression benchmark / proposed model 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27432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743200"/>
            <a:ext cx="54864" cy="1051560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8620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Jupyter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53712" y="31729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Dataset audit, cleaning, preprocessing and experiments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27432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2743200"/>
            <a:ext cx="54864" cy="105156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28620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FastAPI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48472" y="31729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Backend REST services and model-serving 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00507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005072"/>
            <a:ext cx="54864" cy="1051560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12394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Next.js + TypeScript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" y="443484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Farmer-facing web interface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400507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4005072"/>
            <a:ext cx="54864" cy="105156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412394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53712" y="443484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Relational storage for users, farms, crops and predictions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83880" y="400507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4005072"/>
            <a:ext cx="54864" cy="1051560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48472" y="412394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Docker / CI-CD / Azure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48472" y="443484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Planned packaging, deployment and DevOps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Cloud/DevOps components are presented as target deployment architecture unless already deployed.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Project-specific functions that the farmer can eventually perform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09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09344"/>
            <a:ext cx="566928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35608" y="15819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Farmer account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435608" y="1837944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Register, login and manage farmer profile.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594360" y="2551176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79192"/>
            <a:ext cx="566928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35608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Farm &amp; location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Create farm and capture GPS/Lat-Long/District/Manual location.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594360" y="362102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49040"/>
            <a:ext cx="566928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35608" y="3721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Crop intent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435608" y="397764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Choose “I Know My Crop” or “Help Me Choose”.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594360" y="469087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818888"/>
            <a:ext cx="566928" cy="274320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47914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Crop support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435608" y="5047488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Classify requested crop as supported or under development based on actual model coverage.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6217920" y="1481328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609344"/>
            <a:ext cx="566928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9168" y="15819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Growth stage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059168" y="1837944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Capture planting/sowing date and/or current growth stage where data supports it.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6217920" y="2551176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679192"/>
            <a:ext cx="566928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59168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Water prediction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059168" y="2907792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Generate reference CWR and ML prediction for supported crops.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6217920" y="362102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3749040"/>
            <a:ext cx="566928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59168" y="3721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Irrigation decision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7059168" y="397764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Use rainfall and documented efficiency assumptions to estimate irrigation need.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6217920" y="469087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4818888"/>
            <a:ext cx="566928" cy="274320"/>
          </a:xfrm>
          <a:prstGeom prst="rect">
            <a:avLst/>
          </a:prstGeom>
          <a:solidFill>
            <a:srgbClr val="67C58A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FR8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9168" y="47914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8F8"/>
                </a:solidFill>
              </a:rPr>
              <a:t>Advisory + history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059168" y="5047488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D7E6E8"/>
                </a:solidFill>
              </a:rPr>
              <a:t>Display actionable advisory and store prediction/irrigation history.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Project-specific quality goals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10 QUALITY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44752"/>
            <a:ext cx="54864" cy="896112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6362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Accuracy &amp; validity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Model metrics must be based on real held-out data; no fabricated outputs.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4447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444752"/>
            <a:ext cx="54864" cy="896112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56362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9944" y="187452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Farmer output is simple; technical calculations remain inspectable.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54203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42032"/>
            <a:ext cx="54864" cy="896112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66090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Usability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297180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Mobile-friendly, large controls, short forms and guided workflow.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254203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2542032"/>
            <a:ext cx="54864" cy="896112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66090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Security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9944" y="297180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Authentication, password hashing, authorization and farmer ownership.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63931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639312"/>
            <a:ext cx="54864" cy="896112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75818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406908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Efficient tabular ML inference and responsive API/UI interactions.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5352" y="363931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639312"/>
            <a:ext cx="54864" cy="896112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375818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9944" y="406908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Validation, tests, reproducible pipelines and controlled migrations.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73659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736592"/>
            <a:ext cx="54864" cy="896112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85546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" y="516636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Modular FastAPI/ML/frontend structure and documented data lineage.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473659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4736592"/>
            <a:ext cx="54864" cy="896112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85546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9944" y="5166360"/>
            <a:ext cx="5038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Cloud-ready architecture with separable frontend, API, DB and model layers.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Farmer-first application architecture with a dedicated ML/scientific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11 DESIGN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19072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Farmer / Web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6459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719072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Next.js / TypeScript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43891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16459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719072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FastAPI REST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402336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45552" y="16459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1719072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Application Services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88352" y="2011680"/>
            <a:ext cx="402336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131552" y="100584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62C31"/>
          </a:solidFill>
          <a:ln w="15240">
            <a:solidFill>
              <a:srgbClr val="5C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04704" y="1078992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31552" y="2176272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4704" y="2249424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8"/>
                </a:solidFill>
              </a:rPr>
              <a:t>ML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1874520"/>
            <a:ext cx="274320" cy="-393192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2148840"/>
            <a:ext cx="274320" cy="36576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" y="3200400"/>
            <a:ext cx="2148840" cy="768096"/>
          </a:xfrm>
          <a:prstGeom prst="roundRect">
            <a:avLst>
              <a:gd name="adj" fmla="val 7143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3273552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Location + Crop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Context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30752" y="3200400"/>
            <a:ext cx="2148840" cy="768096"/>
          </a:xfrm>
          <a:prstGeom prst="roundRect">
            <a:avLst>
              <a:gd name="adj" fmla="val 7143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3273552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Weather / Rainfall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/ Soil Context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200400"/>
            <a:ext cx="2148840" cy="768096"/>
          </a:xfrm>
          <a:prstGeom prst="roundRect">
            <a:avLst>
              <a:gd name="adj" fmla="val 7143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273552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FAO-56 ET₀ + Kc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Reference CWR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53728" y="3200400"/>
            <a:ext cx="2148840" cy="768096"/>
          </a:xfrm>
          <a:prstGeom prst="roundRect">
            <a:avLst>
              <a:gd name="adj" fmla="val 7143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3273552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Prediction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Irrigation → Advisory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08960" y="3584448"/>
            <a:ext cx="548640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79592" y="3584448"/>
            <a:ext cx="539496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41080" y="3584448"/>
            <a:ext cx="53035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97280" y="452628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4526280"/>
            <a:ext cx="54864" cy="868680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46451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Data lineage rule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61872" y="4956048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Raw → cleaned → processed → model-ready data. Every merge must have a defensible spatial/temporal/entity key; source and target provenance remain documented.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Process Flow &amp; Design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Research experiment sequence — baseline first, proposed model after validation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12 ML METHODOLOGY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093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Raw / cleaned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5361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6093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Target readiness gate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361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6093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Feature engineering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06840" y="15361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79992" y="16093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Chronological split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5C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93522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Model 1: Random Forest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2862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93522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Model 2: XGBoost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862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93522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Proposed: physics-guided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+ growth-stage-aware XGB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2862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293522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8"/>
                </a:solidFill>
              </a:rPr>
              <a:t>Evaluation + uncertainty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1911096"/>
            <a:ext cx="411480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1911096"/>
            <a:ext cx="411480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1911096"/>
            <a:ext cx="411480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87968" y="2286000"/>
            <a:ext cx="0" cy="59436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3200400"/>
            <a:ext cx="-411480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46120" y="3200400"/>
            <a:ext cx="-429768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51560" y="4069080"/>
            <a:ext cx="10058400" cy="1207008"/>
          </a:xfrm>
          <a:prstGeom prst="roundRect">
            <a:avLst>
              <a:gd name="adj" fmla="val 606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4069080"/>
            <a:ext cx="54864" cy="1207008"/>
          </a:xfrm>
          <a:prstGeom prst="rect">
            <a:avLst/>
          </a:prstGeom>
          <a:solidFill>
            <a:srgbClr val="F48C8B"/>
          </a:solidFill>
          <a:ln w="12700">
            <a:solidFill>
              <a:srgbClr val="F48C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6152" y="41879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Leakage-control principle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16152" y="4498848"/>
            <a:ext cx="9747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If the target is ETc = ET₀ × Kc, do not put same-day ET₀ and Kc directly into the model and call the result a predictive improvement. For forecasting, only use information available at the issue time, such as lagged physical/weather features and growth-stage information.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Planned experiments: E1 Random Forest baseline → E2 XGBoost baseline → E3 proposed physics-guided growth-stage-aware model.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— Conceptual Schema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Relational design separating farmer, farm, crop, weather, predictions and decisions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13 DATABASE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2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0876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8C7D9"/>
                </a:solidFill>
              </a:rPr>
              <a:t>USERS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user_id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email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password_hash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role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67C5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7180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7C58A"/>
                </a:solidFill>
              </a:rPr>
              <a:t>FARMERS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41248" y="322783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farmer_id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user_id FK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name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mobile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F2C4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2402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2C45C"/>
                </a:solidFill>
              </a:rPr>
              <a:t>FARMS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310128" y="249631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farm_id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farmer_id FK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area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location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577840" y="214884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A9DD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22402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9DD6F"/>
                </a:solidFill>
              </a:rPr>
              <a:t>FIELDS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687568" y="249631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field_id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farm_id FK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soil/irrigation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973568" y="141732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5C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3296" y="150876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CD9E6"/>
                </a:solidFill>
              </a:rPr>
              <a:t>CROP CATALOG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083296" y="176479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crop_id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name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category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support_status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973568" y="288036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67C5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3296" y="297180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7C58A"/>
                </a:solidFill>
              </a:rPr>
              <a:t>GROWTH STAGES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083296" y="322783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stage_id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crop_id FK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stage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Kc reference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012680" y="214884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28C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2408" y="22402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8C7D9"/>
                </a:solidFill>
              </a:rPr>
              <a:t>WEATHER / RAIN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0122408" y="249631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record_id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date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weather/rainfall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200400" y="397764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F2C4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40690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2C45C"/>
                </a:solidFill>
              </a:rPr>
              <a:t>PREDICTIONS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310128" y="432511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prediction_id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farm/field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crop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CWR + range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577840" y="397764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A9DD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40690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9DD6F"/>
                </a:solidFill>
              </a:rPr>
              <a:t>IRRIGATION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687568" y="432511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irrigation_id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prediction_id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net/gross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volume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973568" y="434340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112328"/>
          </a:solidFill>
          <a:ln w="13970">
            <a:solidFill>
              <a:srgbClr val="5C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3296" y="443484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CD9E6"/>
                </a:solidFill>
              </a:rPr>
              <a:t>ADVISORIES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083296" y="4690872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advisory_id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prediction_id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message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7E6E8"/>
                </a:solidFill>
              </a:rPr>
              <a:t>reason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560320" y="1874520"/>
            <a:ext cx="566928" cy="758952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60320" y="3182112"/>
            <a:ext cx="566928" cy="-438912"/>
          </a:xfrm>
          <a:prstGeom prst="line">
            <a:avLst/>
          </a:prstGeom>
          <a:noFill/>
          <a:ln w="21590">
            <a:solidFill>
              <a:srgbClr val="67C58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47488" y="2651760"/>
            <a:ext cx="457200" cy="0"/>
          </a:xfrm>
          <a:prstGeom prst="line">
            <a:avLst/>
          </a:prstGeom>
          <a:noFill/>
          <a:ln w="21590">
            <a:solidFill>
              <a:srgbClr val="F2C45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24928" y="2651760"/>
            <a:ext cx="457200" cy="-777240"/>
          </a:xfrm>
          <a:prstGeom prst="line">
            <a:avLst/>
          </a:prstGeom>
          <a:noFill/>
          <a:ln w="21590">
            <a:solidFill>
              <a:srgbClr val="A9DD6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24928" y="2697480"/>
            <a:ext cx="457200" cy="667512"/>
          </a:xfrm>
          <a:prstGeom prst="line">
            <a:avLst/>
          </a:prstGeom>
          <a:noFill/>
          <a:ln w="21590">
            <a:solidFill>
              <a:srgbClr val="A9DD6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29800" y="2606040"/>
            <a:ext cx="1188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47488" y="4434840"/>
            <a:ext cx="457200" cy="0"/>
          </a:xfrm>
          <a:prstGeom prst="line">
            <a:avLst/>
          </a:prstGeom>
          <a:noFill/>
          <a:ln w="21590">
            <a:solidFill>
              <a:srgbClr val="F2C45C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24928" y="4462272"/>
            <a:ext cx="457200" cy="246888"/>
          </a:xfrm>
          <a:prstGeom prst="line">
            <a:avLst/>
          </a:prstGeom>
          <a:noFill/>
          <a:ln w="21590">
            <a:solidFill>
              <a:srgbClr val="A9DD6F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Tables are conceptual for the final application; implement only the tables required by each phase.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Status &amp; 50% Demonstration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Evidence of project-specific functionality already developed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14 IMPLEMENTATION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8C7D9"/>
                </a:solidFill>
              </a:rPr>
              <a:t>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62763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raw datasets audited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7C58A"/>
                </a:solidFill>
              </a:rPr>
              <a:t>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62763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cleaned tables created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01000" y="1463040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C45C"/>
                </a:solidFill>
              </a:rPr>
              <a:t>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26880" y="162763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processed outputs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DD6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research notebooks executed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578608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CD9E6"/>
                </a:solidFill>
              </a:rPr>
              <a:t>18/18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data-quality tests passed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01000" y="2578608"/>
            <a:ext cx="3429000" cy="896112"/>
          </a:xfrm>
          <a:prstGeom prst="roundRect">
            <a:avLst>
              <a:gd name="adj" fmla="val 5102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7C58A"/>
                </a:solidFill>
              </a:rPr>
              <a:t>271/271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26880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backend tests passed for existing location foundation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931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931920"/>
            <a:ext cx="54864" cy="114300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05079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Current prototype evidence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8952" y="4361688"/>
            <a:ext cx="4764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Existing Jalachakra prediction page supports crop/growth-stage/weather input and water-demand prediction workflow. The page is now being redesigned into a guided farmer-first flow.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989320" y="39319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3931920"/>
            <a:ext cx="54864" cy="114300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40507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Research status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53912" y="4361688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CWR target construction remains a validation gate in the fresh dataset workspace. Do not fabricate ML results; baseline experiments begin only after a defensible target is established.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Implementation numbers are taken from the project’s Phase-1 completion report and existing backend location implementation status.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Demo — Farmer-First Redesign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Current technical prediction page → guided farmer 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15 DEMO</a:t>
            </a:r>
            <a:endParaRPr lang="en-US" sz="950" dirty="0"/>
          </a:p>
        </p:txBody>
      </p:sp>
      <p:pic>
        <p:nvPicPr>
          <p:cNvPr id="5" name="Image 0" descr="/mnt/data/bcb00325-9041-4446-8edd-4dc180b33a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653796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44752"/>
            <a:ext cx="4160520" cy="969264"/>
          </a:xfrm>
          <a:prstGeom prst="roundRect">
            <a:avLst>
              <a:gd name="adj" fmla="val 754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444752"/>
            <a:ext cx="54864" cy="969264"/>
          </a:xfrm>
          <a:prstGeom prst="rect">
            <a:avLst/>
          </a:prstGeom>
          <a:solidFill>
            <a:srgbClr val="F48C8B"/>
          </a:solidFill>
          <a:ln w="12700">
            <a:solidFill>
              <a:srgbClr val="F48C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5636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Current issue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25512" y="1874520"/>
            <a:ext cx="3849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The existing screen exposes too many technical weather fields at once.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60920" y="2633472"/>
            <a:ext cx="4160520" cy="969264"/>
          </a:xfrm>
          <a:prstGeom prst="roundRect">
            <a:avLst>
              <a:gd name="adj" fmla="val 754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633472"/>
            <a:ext cx="54864" cy="969264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7523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New experience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25512" y="3063240"/>
            <a:ext cx="3849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Location first → “I Know My Crop” / “Help Me Choose” → guided prediction steps.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60920" y="3822192"/>
            <a:ext cx="4160520" cy="969264"/>
          </a:xfrm>
          <a:prstGeom prst="roundRect">
            <a:avLst>
              <a:gd name="adj" fmla="val 754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3822192"/>
            <a:ext cx="54864" cy="969264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39410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Farmer result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25512" y="4251960"/>
            <a:ext cx="3849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Water demand → rainfall contribution → irrigation need → simple reasoned advisory.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60920" y="5074920"/>
            <a:ext cx="1417320" cy="274320"/>
          </a:xfrm>
          <a:prstGeom prst="rect">
            <a:avLst/>
          </a:prstGeom>
          <a:solidFill>
            <a:srgbClr val="F2C45C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UI REDESIGN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42832" y="5074920"/>
            <a:ext cx="1234440" cy="274320"/>
          </a:xfrm>
          <a:prstGeom prst="rect">
            <a:avLst/>
          </a:prstGeom>
          <a:solidFill>
            <a:srgbClr val="F48C8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215"/>
                </a:solidFill>
              </a:rPr>
              <a:t>NO FAKE AI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Farmer Scenario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Example values are for explaining the workflow — not field observations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16 EXAMPLE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474720" cy="859536"/>
          </a:xfrm>
          <a:prstGeom prst="roundRect">
            <a:avLst>
              <a:gd name="adj" fmla="val 851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4864" cy="859536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Farmer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Ramesh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417320"/>
            <a:ext cx="3474720" cy="859536"/>
          </a:xfrm>
          <a:prstGeom prst="roundRect">
            <a:avLst>
              <a:gd name="adj" fmla="val 851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417320"/>
            <a:ext cx="54864" cy="859536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Farm area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8470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1 ha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1417320"/>
            <a:ext cx="3474720" cy="859536"/>
          </a:xfrm>
          <a:prstGeom prst="roundRect">
            <a:avLst>
              <a:gd name="adj" fmla="val 851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417320"/>
            <a:ext cx="54864" cy="859536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18470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Mandya, Karnataka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560320"/>
            <a:ext cx="3474720" cy="859536"/>
          </a:xfrm>
          <a:prstGeom prst="roundRect">
            <a:avLst>
              <a:gd name="adj" fmla="val 851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560320"/>
            <a:ext cx="54864" cy="859536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679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Crop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9900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Maize — Seasonal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2560320"/>
            <a:ext cx="3474720" cy="859536"/>
          </a:xfrm>
          <a:prstGeom prst="roundRect">
            <a:avLst>
              <a:gd name="adj" fmla="val 8511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2560320"/>
            <a:ext cx="54864" cy="859536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679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Stage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9900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6E8"/>
                </a:solidFill>
              </a:rPr>
              <a:t>Development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373075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803904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ET₀ = 5.2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mm/day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373075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803904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Kc = 0.8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0" y="373075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803904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ETc = 4.16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mm/day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92440" y="373075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3803904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Rainfall = 1.5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mm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834640" y="410565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257800" y="410565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80960" y="410565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840480" y="4983480"/>
            <a:ext cx="4480560" cy="731520"/>
          </a:xfrm>
          <a:prstGeom prst="roundRect">
            <a:avLst>
              <a:gd name="adj" fmla="val 7500"/>
            </a:avLst>
          </a:prstGeom>
          <a:solidFill>
            <a:srgbClr val="162C31"/>
          </a:solidFill>
          <a:ln w="15240">
            <a:solidFill>
              <a:srgbClr val="5C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5056632"/>
            <a:ext cx="4334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8"/>
                </a:solidFill>
              </a:rPr>
              <a:t>Illustrative net irrigation ≈ 2.66 mm → gross depends on efficiency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Use this slide to explain the chain. Replace example numbers with actual live outputs only when the system produces them.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— IEEE Style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Research papers and core technical references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17 REFERENCES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349240" cy="822960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[1] Z. Hu, R. N. Bashir, A. ur Rehman, S. Iqbal, M. M. A. Shahid, and T. Xu, “Machine Learning Based Prediction of Reference Evapotranspiration (ET₀) Using IoT,” IEEE Access, vol. 10, pp. 70526–70540, 2022, doi: 10.1109/ACCESS.2022.3187528.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190488" y="1417320"/>
            <a:ext cx="5349240" cy="822960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[2] P. J. Vaz, G. Schütz, C. Guerrero, and P. J. S. Cardoso, “Hybrid Neural Network Based Models for Evapotranspiration Prediction Over Limited Weather Parameters,” IEEE Access, vol. 11, pp. 963–976, 2023, doi: 10.1109/ACCESS.2022.3233301.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66928" y="2404872"/>
            <a:ext cx="5349240" cy="822960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[3] W. J. M. L. P. Jayasinghe, R. C. Deo, A. Ghahramani, S. Ghimire, and N. Raj, “Deep Multi-Stage Reference Evapotranspiration Forecasting Model: Multivariate Empirical Mode Decomposition Integrated With the Boruta-Random Forest Algorithm,” IEEE Access, vol. 9, pp. 166695–166708, 2021, doi: 10.1109/ACCESS.2021.3135362.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190488" y="2404872"/>
            <a:ext cx="5349240" cy="822960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[4] H. Wen, H. Ma, Y. Du, J. Zhang, and L. He, “Prediction of Irrigation Water Requirement Based on Parallel CNN-LSTM Model and Mann-Kendall Test,” in Proc. 2024 IEEE 7th Int. Conf. Industrial Cyber-Physical Systems, pp. 1–6, 2024, doi: 10.1109/ICPS59941.2024.10640026.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6928" y="3392424"/>
            <a:ext cx="5349240" cy="822960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[5] E. Ben Abdallah, R. Grati, and K. Boukadi, “A Machine Learning-Based Approach for Smart Agriculture via Stacking-Based Ensemble Learning and Feature Selection Methods,” in Proc. 2022 18th Int. Conf. Intelligent Environments, pp. 1–8, 2022, doi: 10.1109/IE54923.2022.9826767.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190488" y="3392424"/>
            <a:ext cx="5349240" cy="822960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[6] R. K. Munaganuri and Y. N. Rao, “PAMICRM: Improving Precision Agriculture Through Multimodal Image Analysis for Crop Water Requirement Estimation Using Multidomain Remote Sensing Data Samples,” IEEE Access, vol. 12, pp. 52815–52836, 2024, doi: 10.1109/ACCESS.2024.3386552.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66928" y="4379976"/>
            <a:ext cx="5349240" cy="822960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[7] M. Bukhari, S. O. Athar, M. Ullah, and M. N. Aman, “A Fuzzy-Logic-Based Smart Irrigation Controller for Precision Agriculture,” IEEE Internet Things J., vol. 11, no. 22, pp. 37257–37268, 2024, doi: 10.1109/JIOT.2024.3440200.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190488" y="4379976"/>
            <a:ext cx="5349240" cy="822960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[8] A. Pagano, F. Amato, M. Ippolito, D. De Caro, D. Croce, A. Motisi, G. Provenzano, and I. Tinnirello, “Internet of Things and Artificial Intelligence for Sustainable Agriculture: A Use Case in Citrus Orchards,” in Proc. 2023 IEEE 9th World Forum on Internet of Things, 2023, doi: 10.1109/WF-IoT58464.2023.10539593.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66928" y="5367528"/>
            <a:ext cx="5349240" cy="822960"/>
          </a:xfrm>
          <a:prstGeom prst="rect">
            <a:avLst/>
          </a:prstGeom>
          <a:solidFill>
            <a:srgbClr val="112328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[9] M. Afzal, I. A. Saeed, M. N. Sohail, M. H. Md. Saad, and M. R. Sarker, “IoT-Enabled Adaptive Watering System With ARIMA-Based Soil Moisture Prediction for Smart Agriculture,” IEEE Access, vol. 13, pp. 27714–27728, 2025, doi: 10.1109/ACCESS.2025.3532447.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190488" y="5367528"/>
            <a:ext cx="5349240" cy="822960"/>
          </a:xfrm>
          <a:prstGeom prst="rect">
            <a:avLst/>
          </a:prstGeom>
          <a:solidFill>
            <a:srgbClr val="162C31"/>
          </a:solidFill>
          <a:ln w="6350">
            <a:solidFill>
              <a:srgbClr val="2945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D7E6E8"/>
                </a:solidFill>
              </a:rPr>
              <a:t>[10] S. Kattupalli, S. M. R. Mallireddy, P. Tallapureddy, S. Vuddanti, B. Katragadda, and S. R. Manda, “Water Level Prediction Using Random Forest Algorithm,” in Proc. 2023 7th Int. Conf. Electronics, Communication and Aerospace Technology, 2023, doi: 10.1109/ICECA58529.2023.10394849.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&amp; Data 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Core scientific method and project data sources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18 TECHNICAL REFERENCES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89888"/>
            <a:ext cx="54864" cy="1097280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FAO-56 Penman–Monteith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1819656"/>
            <a:ext cx="5129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Allen, R. G., Pereira, L. S., Raes, D., and Smith, M., FAO Irrigation and Drainage Paper 56. Used as the physical reference framework for ET₀ and ETc.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743200"/>
            <a:ext cx="54864" cy="1097280"/>
          </a:xfrm>
          <a:prstGeom prst="rect">
            <a:avLst/>
          </a:prstGeom>
          <a:solidFill>
            <a:srgbClr val="67C58A"/>
          </a:solidFill>
          <a:ln w="12700">
            <a:solidFill>
              <a:srgbClr val="67C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620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FAO Crop Water Needs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172968"/>
            <a:ext cx="5129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FAO crop-water guidance provides the conceptual basis for crop coefficients, crop stages and evapotranspiration interpretation.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36208" y="1389888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389888"/>
            <a:ext cx="54864" cy="1097280"/>
          </a:xfrm>
          <a:prstGeom prst="rect">
            <a:avLst/>
          </a:prstGeom>
          <a:solidFill>
            <a:srgbClr val="F2C45C"/>
          </a:solidFill>
          <a:ln w="12700">
            <a:solidFill>
              <a:srgbClr val="F2C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Project datasets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1819656"/>
            <a:ext cx="4992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Raw, cleaned and processed agricultural datasets are retained with source lineage, quality flags and explicit quarantine decisions.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36208" y="27432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2743200"/>
            <a:ext cx="54864" cy="1097280"/>
          </a:xfrm>
          <a:prstGeom prst="rect">
            <a:avLst/>
          </a:prstGeom>
          <a:solidFill>
            <a:srgbClr val="A9DD6F"/>
          </a:solidFill>
          <a:ln w="12700">
            <a:solidFill>
              <a:srgbClr val="A9DD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620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Karnataka growth reference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0" y="3172968"/>
            <a:ext cx="4992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Karnataka_Crop_Growth_Stage_Reference is used as a provenance-bearing reference for Paddy/Rice, Ragi and Maize stage information; values remain source-specific.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4096512"/>
            <a:ext cx="10972800" cy="1078992"/>
          </a:xfrm>
          <a:prstGeom prst="roundRect">
            <a:avLst>
              <a:gd name="adj" fmla="val 6780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096512"/>
            <a:ext cx="54864" cy="1078992"/>
          </a:xfrm>
          <a:prstGeom prst="rect">
            <a:avLst/>
          </a:prstGeom>
          <a:solidFill>
            <a:srgbClr val="5CD9E6"/>
          </a:solidFill>
          <a:ln w="12700">
            <a:solidFill>
              <a:srgbClr val="5C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153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Project data governance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10661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Raw datasets are not edited. Ambiguous units, unknown provenance and mismatched temporal/spatial keys are documented rather than guessed. This protects the validity of later ML experiments.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66928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1AEB3"/>
                </a:solidFill>
              </a:rPr>
              <a:t>The uploaded project guideline requires IEEE-format references for papers, books and websites.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8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Next Implementation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1AEB3"/>
                </a:solidFill>
              </a:rPr>
              <a:t>A controlled path from data integrity to research-grade prediction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371600" cy="256032"/>
          </a:xfrm>
          <a:prstGeom prst="rect">
            <a:avLst/>
          </a:prstGeom>
          <a:solidFill>
            <a:srgbClr val="28C7D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1A"/>
                </a:solidFill>
              </a:rPr>
              <a:t>19 CONCLUSION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62C31"/>
          </a:solidFill>
          <a:ln w="15240">
            <a:solidFill>
              <a:srgbClr val="2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73352"/>
            <a:ext cx="1865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Data foundation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completed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62C31"/>
          </a:solidFill>
          <a:ln w="15240">
            <a:solidFill>
              <a:srgbClr val="67C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673352"/>
            <a:ext cx="1865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Farmer-first UI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refinement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6002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62C31"/>
          </a:solidFill>
          <a:ln w="15240">
            <a:solidFill>
              <a:srgbClr val="F2C4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673352"/>
            <a:ext cx="1865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CWR target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62C31"/>
          </a:solidFill>
          <a:ln w="15240">
            <a:solidFill>
              <a:srgbClr val="A9DD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673352"/>
            <a:ext cx="1865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RF + XGBoost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8"/>
                </a:solidFill>
              </a:rPr>
              <a:t>baselines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00253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00253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80960" y="2002536"/>
            <a:ext cx="347472" cy="0"/>
          </a:xfrm>
          <a:prstGeom prst="line">
            <a:avLst/>
          </a:prstGeom>
          <a:noFill/>
          <a:ln w="21590">
            <a:solidFill>
              <a:srgbClr val="28C7D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51560" y="2880360"/>
            <a:ext cx="10012680" cy="1170432"/>
          </a:xfrm>
          <a:prstGeom prst="roundRect">
            <a:avLst>
              <a:gd name="adj" fmla="val 6250"/>
            </a:avLst>
          </a:prstGeom>
          <a:solidFill>
            <a:srgbClr val="112328"/>
          </a:solidFill>
          <a:ln w="12700">
            <a:solidFill>
              <a:srgbClr val="2945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80360"/>
            <a:ext cx="54864" cy="1170432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2999232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8"/>
                </a:solidFill>
              </a:rPr>
              <a:t>Project message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16152" y="3310128"/>
            <a:ext cx="9701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7E6E8"/>
                </a:solidFill>
              </a:rPr>
              <a:t>Jalachakra aims to move from fragmented agricultural data to a transparent water-demand and irrigation decision workflow that a farmer can understand, while keeping the ML research reproducible and scientifically defensible.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D9E6"/>
                </a:solidFill>
              </a:rPr>
              <a:t>Thank You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" y="53218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6E8"/>
                </a:solidFill>
              </a:rPr>
              <a:t>Questions &amp; Discussion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PES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Jalachakra – Intelligent Crop Water Requirement Prediction and Farmer Advisory System</dc:title>
  <dc:subject>Jalachakra Capstone Presentation-2</dc:subject>
  <dc:creator>Bhavyashree Hegde</dc:creator>
  <cp:lastModifiedBy>Bhavyashree Hegde</cp:lastModifiedBy>
  <cp:revision>1</cp:revision>
  <dcterms:created xsi:type="dcterms:W3CDTF">2026-09-30T04:27:29Z</dcterms:created>
  <dcterms:modified xsi:type="dcterms:W3CDTF">2026-09-30T04:27:29Z</dcterms:modified>
</cp:coreProperties>
</file>